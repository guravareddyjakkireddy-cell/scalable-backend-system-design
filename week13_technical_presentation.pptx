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68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13 Technical Presentation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5727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F6FAD"/>
                </a:solidFill>
              </a:rPr>
              <a:t>Scalable Backend Architecture for a Web Application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F2933"/>
                </a:solidFill>
              </a:rPr>
              <a:t>Objectives: understand high-level architecture and design backend systems that scale reliably.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464040" y="1828800"/>
            <a:ext cx="1417320" cy="658368"/>
          </a:xfrm>
          <a:prstGeom prst="chevron">
            <a:avLst/>
          </a:prstGeom>
          <a:solidFill>
            <a:srgbClr val="2F6FAD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23960" y="3886200"/>
            <a:ext cx="27432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Load Balancing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Caching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Database Scaling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58A"/>
                </a:solidFill>
              </a:rPr>
              <a:t>Week 13 • Scalable Backend Architecture •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D9E6F2"/>
            </a:solidFill>
            <a:prstDash val="solid"/>
          </a:ln>
        </p:spPr>
      </p:sp>
      <p:pic>
        <p:nvPicPr>
          <p:cNvPr id="4" name="Image 0" descr="/mnt/data/week13-scalable-backend-architecture/diagrams/syste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7800"/>
            <a:ext cx="7315200" cy="2782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75320" y="1143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Design goal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75320" y="1645920"/>
            <a:ext cx="324612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Route traffic through CDN and load balancer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Scale stateless APIs horizontally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Use Redis for hot data and sessions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Split reads and writes at database layer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Move slow work to background workers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321040" y="5257800"/>
            <a:ext cx="2971800" cy="347472"/>
          </a:xfrm>
          <a:prstGeom prst="roundRect">
            <a:avLst>
              <a:gd name="adj" fmla="val 2105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5335524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Core pattern: scalable, stateless, observable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58A"/>
                </a:solidFill>
              </a:rPr>
              <a:t>Week 13 • Scalable Backend Architecture •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Load Balancer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D9E6F2"/>
            </a:solidFill>
            <a:prstDash val="solid"/>
          </a:ln>
        </p:spPr>
      </p:sp>
      <p:pic>
        <p:nvPicPr>
          <p:cNvPr id="4" name="Image 0" descr="/mnt/data/week13-scalable-backend-architecture/diagrams/load_balancer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802"/>
            <a:ext cx="5486400" cy="22392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2344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4D"/>
                </a:solidFill>
              </a:rPr>
              <a:t>Why it matters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903720" y="1783080"/>
            <a:ext cx="420624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Distributes traffic across multiple app instances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Runs health checks and removes unhealthy nodes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Supports rolling deployments with minimal downtime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Improves availability during traffic spikes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903720" y="48463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1758A"/>
                </a:solidFill>
              </a:rPr>
              <a:t>Recommended policies: least connections for uneven workloads, round-robin for simple balanced traffic, and sticky sessions only when absolutely required.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58A"/>
                </a:solidFill>
              </a:rPr>
              <a:t>Week 13 • Scalable Backend Architecture •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Scaling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D9E6F2"/>
            </a:solidFill>
            <a:prstDash val="solid"/>
          </a:ln>
        </p:spPr>
      </p:sp>
      <p:pic>
        <p:nvPicPr>
          <p:cNvPr id="4" name="Image 0" descr="/mnt/data/week13-scalable-backend-architecture/diagrams/database_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22214"/>
            <a:ext cx="5806440" cy="17221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8660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4D"/>
                </a:solidFill>
              </a:rPr>
              <a:t>Primary + replicas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08660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Write transactions go to primary database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Read-heavy traffic goes to replicas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Connection pool protects database from overload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Indexes and query tuning reduce latency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Backups support recovery and compliance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0" y="5166360"/>
            <a:ext cx="3063240" cy="347472"/>
          </a:xfrm>
          <a:prstGeom prst="roundRect">
            <a:avLst>
              <a:gd name="adj" fmla="val 21053"/>
            </a:avLst>
          </a:prstGeom>
          <a:solidFill>
            <a:srgbClr val="E18A00"/>
          </a:solidFill>
          <a:ln w="12700">
            <a:solidFill>
              <a:srgbClr val="E18A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06640" y="524408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Next stage: partitioning or sharding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58A"/>
                </a:solidFill>
              </a:rPr>
              <a:t>Week 13 • Scalable Backend Architecture •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Caching Layer: Redis Cache-Aside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D9E6F2"/>
            </a:solidFill>
            <a:prstDash val="solid"/>
          </a:ln>
        </p:spPr>
      </p:sp>
      <p:pic>
        <p:nvPicPr>
          <p:cNvPr id="4" name="Image 0" descr="/mnt/data/week13-scalable-backend-architecture/diagrams/caching_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56051"/>
            <a:ext cx="5303520" cy="14544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143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4D"/>
                </a:solidFill>
              </a:rPr>
              <a:t>Cache candidates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720840" y="1691640"/>
            <a:ext cx="438912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Product catalog and reference data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User session data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Recently viewed order status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Rate-limit counters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Frequently requested dashboard summaries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720840" y="489204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1758A"/>
                </a:solidFill>
              </a:rPr>
              <a:t>Expected impact: lower database load, faster API response time, and better user experience during traffic spikes.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58A"/>
                </a:solidFill>
              </a:rPr>
              <a:t>Week 13 • Scalable Backend Architecture •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Scalability Strategies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D9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325880"/>
            <a:ext cx="2331720" cy="3291840"/>
          </a:xfrm>
          <a:prstGeom prst="roundRect">
            <a:avLst>
              <a:gd name="adj" fmla="val 3137"/>
            </a:avLst>
          </a:prstGeom>
          <a:solidFill>
            <a:srgbClr val="F4F7FB"/>
          </a:solidFill>
          <a:ln w="15240">
            <a:solidFill>
              <a:srgbClr val="D9E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Traffic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19659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CDN, load balancer, rate limiting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66160" y="1325880"/>
            <a:ext cx="2331720" cy="3291840"/>
          </a:xfrm>
          <a:prstGeom prst="roundRect">
            <a:avLst>
              <a:gd name="adj" fmla="val 3137"/>
            </a:avLst>
          </a:prstGeom>
          <a:solidFill>
            <a:srgbClr val="F4F7FB"/>
          </a:solidFill>
          <a:ln w="15240">
            <a:solidFill>
              <a:srgbClr val="D9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0752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Application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749040" y="2331720"/>
            <a:ext cx="19659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Horizontal scaling, stateless APIs, autoscaling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325880"/>
            <a:ext cx="2331720" cy="3291840"/>
          </a:xfrm>
          <a:prstGeom prst="roundRect">
            <a:avLst>
              <a:gd name="adj" fmla="val 3137"/>
            </a:avLst>
          </a:prstGeom>
          <a:solidFill>
            <a:srgbClr val="F4F7FB"/>
          </a:solidFill>
          <a:ln w="15240">
            <a:solidFill>
              <a:srgbClr val="D9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Data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19659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Redis cache, read replicas, indexes, backups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0" y="1325880"/>
            <a:ext cx="2331720" cy="3291840"/>
          </a:xfrm>
          <a:prstGeom prst="roundRect">
            <a:avLst>
              <a:gd name="adj" fmla="val 3137"/>
            </a:avLst>
          </a:prstGeom>
          <a:solidFill>
            <a:srgbClr val="F4F7FB"/>
          </a:solidFill>
          <a:ln w="15240">
            <a:solidFill>
              <a:srgbClr val="D9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08592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Operations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326880" y="2331720"/>
            <a:ext cx="19659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Metrics, logs, alerts, health checks, rollback plan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5349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1758A"/>
                </a:solidFill>
              </a:rPr>
              <a:t>The architecture should scale gradually: start simple, measure bottlenecks, then add infrastructure where it provides clear performance or reliability value.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58A"/>
                </a:solidFill>
              </a:rPr>
              <a:t>Week 13 • Scalable Backend Architecture •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Decisions and Trade-Offs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D9E6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Decision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6324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Reason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4380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Trade-off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Load balancer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063240" y="16002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Availability and traffic distribution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543800" y="1600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Additional infrastructure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23134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Stateless APIs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063240" y="23134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Easy horizontal scaling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43800" y="2313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External session management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30266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Redis cache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63240" y="302666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Fast reads and lower DB load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543800" y="3026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Cache invalidation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" y="37398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Read replicas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063240" y="373989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Read scalability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543800" y="37398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Replication lag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44531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Message queue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063240" y="44531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Faster APIs and retry support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43800" y="4453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Async complexity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FAD"/>
                </a:solidFill>
              </a:rPr>
              <a:t>Final recommendation: modular backend + horizontal scaling + Redis + read replicas + queue + monitoring.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58A"/>
                </a:solidFill>
              </a:rPr>
              <a:t>Week 13 • Scalable Backend Architecture •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Submission Summary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03504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Designed scalable web application architecture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Created diagrams for load balancer, database scaling, and caching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Documented scalability strategies and architecture decisions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Prepared technical presentation for review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52578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6F2"/>
                </a:solidFill>
              </a:rPr>
              <a:t>Deliverables are organized as a submission-ready repository.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0" y="1600200"/>
            <a:ext cx="1920240" cy="749808"/>
          </a:xfrm>
          <a:prstGeom prst="chevron">
            <a:avLst/>
          </a:prstGeom>
          <a:solidFill>
            <a:srgbClr val="2F6FAD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788920"/>
            <a:ext cx="1920240" cy="749808"/>
          </a:xfrm>
          <a:prstGeom prst="chevron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3977640"/>
            <a:ext cx="1920240" cy="749808"/>
          </a:xfrm>
          <a:prstGeom prst="chevron">
            <a:avLst/>
          </a:prstGeom>
          <a:solidFill>
            <a:srgbClr val="E18A00"/>
          </a:solidFill>
          <a:ln w="12700">
            <a:solidFill>
              <a:srgbClr val="E18A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Student Submission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13 Technical Presentation</dc:title>
  <dc:subject>Scalable Backend Architecture</dc:subject>
  <dc:creator>Week 13 Submission</dc:creator>
  <cp:lastModifiedBy>Week 13 Submission</cp:lastModifiedBy>
  <cp:revision>1</cp:revision>
  <dcterms:created xsi:type="dcterms:W3CDTF">2026-06-19T17:34:04Z</dcterms:created>
  <dcterms:modified xsi:type="dcterms:W3CDTF">2026-06-19T17:34:04Z</dcterms:modified>
</cp:coreProperties>
</file>